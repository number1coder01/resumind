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277295" cy="457200"/>
          </a:xfrm>
          <a:prstGeom prst="roundRect">
            <a:avLst/>
          </a:prstGeom>
          <a:solidFill>
            <a:srgbClr val="CD1409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Workforce AI - Business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5303520" cy="320040"/>
          </a:xfrm>
          <a:prstGeom prst="roundRect">
            <a:avLst/>
          </a:prstGeom>
          <a:solidFill>
            <a:srgbClr val="CD1409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2468880" cy="228600"/>
          </a:xfrm>
          <a:prstGeom prst="roundRect">
            <a:avLst/>
          </a:prstGeom>
          <a:solidFill>
            <a:srgbClr val="FFCD34"/>
          </a:solidFill>
          <a:ln w="19050">
            <a:solidFill>
              <a:srgbClr val="FFC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Manager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143000"/>
            <a:ext cx="2468880" cy="228600"/>
          </a:xfrm>
          <a:prstGeom prst="roundRect">
            <a:avLst/>
          </a:prstGeom>
          <a:solidFill>
            <a:srgbClr val="FFCD34"/>
          </a:solidFill>
          <a:ln w="19050">
            <a:solidFill>
              <a:srgbClr val="FFC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Employee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Team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55064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Skill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92808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Category Strength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30552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Profiles Awaiting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68296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Projects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06040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Quick Actions (3 CTAs)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417320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Personal Stats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655064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Standout 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1892808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My Projects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130552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My Skills Grid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368296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Find an Expert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606040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Certifications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777240"/>
            <a:ext cx="5303520" cy="320040"/>
          </a:xfrm>
          <a:prstGeom prst="roundRect">
            <a:avLst/>
          </a:prstGeom>
          <a:solidFill>
            <a:srgbClr val="CD1409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Skill Recommendations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1143000"/>
            <a:ext cx="2468880" cy="228600"/>
          </a:xfrm>
          <a:prstGeom prst="roundRect">
            <a:avLst/>
          </a:prstGeom>
          <a:solidFill>
            <a:srgbClr val="FFCD34"/>
          </a:solidFill>
          <a:ln w="19050">
            <a:solidFill>
              <a:srgbClr val="FFC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Manager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143000"/>
            <a:ext cx="2468880" cy="228600"/>
          </a:xfrm>
          <a:prstGeom prst="roundRect">
            <a:avLst/>
          </a:prstGeom>
          <a:solidFill>
            <a:srgbClr val="FFCD34"/>
          </a:solidFill>
          <a:ln w="19050">
            <a:solidFill>
              <a:srgbClr val="FFC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Employee 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1417320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Publish Skill Recs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1655064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AI Extracts Tech Stacks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892808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Toggle &amp; Save to Team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2130552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Go to Team Members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1417320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Personalized AI Recs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1655064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Get AI Recs (Tachyon)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1892808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AI Response 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2130552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From Manager 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4114800"/>
            <a:ext cx="5303520" cy="320040"/>
          </a:xfrm>
          <a:prstGeom prst="roundRect">
            <a:avLst/>
          </a:prstGeom>
          <a:solidFill>
            <a:srgbClr val="CD1409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480560"/>
            <a:ext cx="2468880" cy="228600"/>
          </a:xfrm>
          <a:prstGeom prst="roundRect">
            <a:avLst/>
          </a:prstGeom>
          <a:solidFill>
            <a:srgbClr val="FFCD34"/>
          </a:solidFill>
          <a:ln w="19050">
            <a:solidFill>
              <a:srgbClr val="FFC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Manager 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0" y="4480560"/>
            <a:ext cx="2468880" cy="228600"/>
          </a:xfrm>
          <a:prstGeom prst="roundRect">
            <a:avLst/>
          </a:prstGeom>
          <a:solidFill>
            <a:srgbClr val="FFCD34"/>
          </a:solidFill>
          <a:ln w="19050">
            <a:solidFill>
              <a:srgbClr val="FFC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Employee 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754880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Portfolio Stats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992624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Search &amp; Filter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230368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Add Project (CRUD)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468112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Project Detail Panel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705856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Recommend Team (AI)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943600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Tachyon Kickoff Plan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6181344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AI Insights &amp; Gaps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6419088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Hire/Upskill Actions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0" y="4754880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(Visible from Dashboard)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4114800"/>
            <a:ext cx="5303520" cy="320040"/>
          </a:xfrm>
          <a:prstGeom prst="roundRect">
            <a:avLst/>
          </a:prstGeom>
          <a:solidFill>
            <a:srgbClr val="CD1409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4480560"/>
            <a:ext cx="2468880" cy="228600"/>
          </a:xfrm>
          <a:prstGeom prst="roundRect">
            <a:avLst/>
          </a:prstGeom>
          <a:solidFill>
            <a:srgbClr val="FFCD34"/>
          </a:solidFill>
          <a:ln w="19050">
            <a:solidFill>
              <a:srgbClr val="FFC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Manager View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4480560"/>
            <a:ext cx="2468880" cy="228600"/>
          </a:xfrm>
          <a:prstGeom prst="roundRect">
            <a:avLst/>
          </a:prstGeom>
          <a:solidFill>
            <a:srgbClr val="FFCD34"/>
          </a:solidFill>
          <a:ln w="19050">
            <a:solidFill>
              <a:srgbClr val="FFC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Employee 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0" y="4754880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Team Overview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4992624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Search Directory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5230368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Expandable Cards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0" y="5468112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Recommend Skills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5705856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Certifications View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4754880"/>
            <a:ext cx="24688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(Visible from Dashboard)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97680" y="3108960"/>
            <a:ext cx="3566160" cy="914400"/>
          </a:xfrm>
          <a:prstGeom prst="roundRect">
            <a:avLst/>
          </a:prstGeom>
          <a:solidFill>
            <a:srgbClr val="333333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DATABASE (SQL Server)</a:t>
            </a:r>
            <a:br/>
            <a:r>
              <a:t>dbo.projects · dbo.skill_matrix · dbo.employees</a:t>
            </a:r>
            <a:br/>
            <a:r>
              <a:t>dbo.skills · dbo.skill_recommendations · dbo.project_assignments</a:t>
            </a:r>
          </a:p>
        </p:txBody>
      </p:sp>
      <p:cxnSp>
        <p:nvCxnSpPr>
          <p:cNvPr id="51" name="Connector 50"/>
          <p:cNvCxnSpPr>
            <a:stCxn id="50" idx="1"/>
            <a:endCxn id="3" idx="3"/>
          </p:cNvCxnSpPr>
          <p:nvPr/>
        </p:nvCxnSpPr>
        <p:spPr>
          <a:xfrm flipV="1">
            <a:off x="4297680" y="937260"/>
            <a:ext cx="1280160" cy="2628900"/>
          </a:xfrm>
          <a:prstGeom prst="bentConnector3">
            <a:avLst/>
          </a:prstGeom>
          <a:ln w="25400">
            <a:solidFill>
              <a:srgbClr val="CD14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stCxn id="50" idx="3"/>
            <a:endCxn id="18" idx="1"/>
          </p:cNvCxnSpPr>
          <p:nvPr/>
        </p:nvCxnSpPr>
        <p:spPr>
          <a:xfrm flipH="1" flipV="1">
            <a:off x="6583680" y="937260"/>
            <a:ext cx="1280160" cy="2628900"/>
          </a:xfrm>
          <a:prstGeom prst="bentConnector3">
            <a:avLst/>
          </a:prstGeom>
          <a:ln w="25400">
            <a:solidFill>
              <a:srgbClr val="CD14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>
            <a:stCxn id="50" idx="1"/>
            <a:endCxn id="29" idx="3"/>
          </p:cNvCxnSpPr>
          <p:nvPr/>
        </p:nvCxnSpPr>
        <p:spPr>
          <a:xfrm>
            <a:off x="4297680" y="3566160"/>
            <a:ext cx="1280160" cy="708660"/>
          </a:xfrm>
          <a:prstGeom prst="bentConnector3">
            <a:avLst/>
          </a:prstGeom>
          <a:ln w="25400">
            <a:solidFill>
              <a:srgbClr val="CD14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>
            <a:stCxn id="50" idx="3"/>
            <a:endCxn id="41" idx="1"/>
          </p:cNvCxnSpPr>
          <p:nvPr/>
        </p:nvCxnSpPr>
        <p:spPr>
          <a:xfrm flipH="1">
            <a:off x="6583680" y="3566160"/>
            <a:ext cx="1280160" cy="708660"/>
          </a:xfrm>
          <a:prstGeom prst="bentConnector3">
            <a:avLst/>
          </a:prstGeom>
          <a:ln w="25400">
            <a:solidFill>
              <a:srgbClr val="CD14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stCxn id="11" idx="3"/>
            <a:endCxn id="44" idx="1"/>
          </p:cNvCxnSpPr>
          <p:nvPr/>
        </p:nvCxnSpPr>
        <p:spPr>
          <a:xfrm>
            <a:off x="2834640" y="2706624"/>
            <a:ext cx="3840480" cy="2148840"/>
          </a:xfrm>
          <a:prstGeom prst="bentConnector3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stCxn id="11" idx="3"/>
            <a:endCxn id="21" idx="1"/>
          </p:cNvCxnSpPr>
          <p:nvPr/>
        </p:nvCxnSpPr>
        <p:spPr>
          <a:xfrm flipV="1">
            <a:off x="2834640" y="1517904"/>
            <a:ext cx="3840480" cy="1188720"/>
          </a:xfrm>
          <a:prstGeom prst="bentConnector3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stCxn id="11" idx="3"/>
            <a:endCxn id="32" idx="1"/>
          </p:cNvCxnSpPr>
          <p:nvPr/>
        </p:nvCxnSpPr>
        <p:spPr>
          <a:xfrm flipH="1">
            <a:off x="365760" y="2706624"/>
            <a:ext cx="2468880" cy="2148840"/>
          </a:xfrm>
          <a:prstGeom prst="bentConnector3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stCxn id="24" idx="2"/>
            <a:endCxn id="47" idx="0"/>
          </p:cNvCxnSpPr>
          <p:nvPr/>
        </p:nvCxnSpPr>
        <p:spPr>
          <a:xfrm flipH="1">
            <a:off x="7909560" y="2331720"/>
            <a:ext cx="0" cy="3136392"/>
          </a:xfrm>
          <a:prstGeom prst="bentConnector3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stCxn id="36" idx="3"/>
            <a:endCxn id="44" idx="1"/>
          </p:cNvCxnSpPr>
          <p:nvPr/>
        </p:nvCxnSpPr>
        <p:spPr>
          <a:xfrm flipV="1">
            <a:off x="2834640" y="4855464"/>
            <a:ext cx="3840480" cy="950976"/>
          </a:xfrm>
          <a:prstGeom prst="bentConnector3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stCxn id="39" idx="3"/>
            <a:endCxn id="46" idx="1"/>
          </p:cNvCxnSpPr>
          <p:nvPr/>
        </p:nvCxnSpPr>
        <p:spPr>
          <a:xfrm flipV="1">
            <a:off x="2834640" y="5330952"/>
            <a:ext cx="3840480" cy="1188720"/>
          </a:xfrm>
          <a:prstGeom prst="bentConnector3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stCxn id="38" idx="3"/>
            <a:endCxn id="22" idx="1"/>
          </p:cNvCxnSpPr>
          <p:nvPr/>
        </p:nvCxnSpPr>
        <p:spPr>
          <a:xfrm flipV="1">
            <a:off x="2834640" y="1755648"/>
            <a:ext cx="3840480" cy="4526280"/>
          </a:xfrm>
          <a:prstGeom prst="bentConnector3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stCxn id="13" idx="3"/>
            <a:endCxn id="25" idx="1"/>
          </p:cNvCxnSpPr>
          <p:nvPr/>
        </p:nvCxnSpPr>
        <p:spPr>
          <a:xfrm flipV="1">
            <a:off x="5486400" y="1517904"/>
            <a:ext cx="3840480" cy="237744"/>
          </a:xfrm>
          <a:prstGeom prst="bentConnector3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277295" cy="548640"/>
          </a:xfrm>
          <a:prstGeom prst="roundRect">
            <a:avLst/>
          </a:prstGeom>
          <a:solidFill>
            <a:srgbClr val="CD1409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Workforce AI - Module Summary: Problems &amp; 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200400" cy="457200"/>
          </a:xfrm>
          <a:prstGeom prst="roundRect">
            <a:avLst/>
          </a:prstGeom>
          <a:solidFill>
            <a:srgbClr val="CD1409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Skill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200400" cy="20116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Problem</a:t>
            </a:r>
            <a:br/>
            <a:br/>
            <a:r>
              <a:t>Employees lack visibility into skills needed for future projects; managers have limited insight into team-wide capability gaps, creating onboarding inefficiencies and skill shortages.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32004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Solution</a:t>
            </a:r>
            <a:br/>
            <a:br/>
            <a:r>
              <a:t>AI-powered workforce development analyzes skill matrices, identifies high-demand skills, generates personalized recommendations, and enables managers to publish curated skill recs.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9704" y="1097280"/>
            <a:ext cx="3200400" cy="457200"/>
          </a:xfrm>
          <a:prstGeom prst="roundRect">
            <a:avLst/>
          </a:prstGeom>
          <a:solidFill>
            <a:srgbClr val="CD1409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9704" y="1737360"/>
            <a:ext cx="3200400" cy="20116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Problem</a:t>
            </a:r>
            <a:br/>
            <a:br/>
            <a:r>
              <a:t>Project staffing is manual and time-consuming; skills, capacity, and workload are not evaluated together; resource conflicts and skill gaps are discovered too 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9704" y="3931920"/>
            <a:ext cx="32004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Solution</a:t>
            </a:r>
            <a:br/>
            <a:br/>
            <a:r>
              <a:t>Intelligent project staffing with AI team recommendations, automated skill-gap detection, real-time workload tracking, and Tachyon-powered kickoff plans for proactive planning.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31352" y="1097280"/>
            <a:ext cx="3200400" cy="457200"/>
          </a:xfrm>
          <a:prstGeom prst="roundRect">
            <a:avLst/>
          </a:prstGeom>
          <a:solidFill>
            <a:srgbClr val="CD1409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31352" y="1737360"/>
            <a:ext cx="3200400" cy="20116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Problem</a:t>
            </a:r>
            <a:br/>
            <a:br/>
            <a:r>
              <a:t>Employee skills and expertise are scattered; managers lack a consolidated workforce view; subject matter experts are hard to find, creating bottlenecks.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31352" y="3931920"/>
            <a:ext cx="32004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14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Solution</a:t>
            </a:r>
            <a:br/>
            <a:br/>
            <a:r>
              <a:t>Centralized workforce intelligence with a unified team view showing skills and workload; a 'Find an Expert' search engine; and per-member skill recommendations.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